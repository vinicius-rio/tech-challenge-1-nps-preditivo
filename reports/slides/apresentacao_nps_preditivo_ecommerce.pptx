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se NPS" id="{2BBC4E76-988B-4809-8FD6-D3EFED329D9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ED7D31"/>
    <a:srgbClr val="5B9BD5"/>
    <a:srgbClr val="0F27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3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754880"/>
            <a:ext cx="1828800" cy="18288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39899" y="2184500"/>
            <a:ext cx="57740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sz="6000" dirty="0"/>
              <a:t>NPS </a:t>
            </a:r>
            <a:r>
              <a:rPr sz="6000" dirty="0" err="1"/>
              <a:t>Preditivo</a:t>
            </a:r>
            <a:r>
              <a:rPr sz="6000" dirty="0"/>
              <a:t> em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6557" y="396347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FFFFFF"/>
                </a:solidFill>
              </a:defRPr>
            </a:pPr>
            <a:r>
              <a:rPr dirty="0"/>
              <a:t>Como dados </a:t>
            </a:r>
            <a:r>
              <a:rPr dirty="0" err="1"/>
              <a:t>operacionais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antecipar</a:t>
            </a:r>
            <a:r>
              <a:rPr dirty="0"/>
              <a:t> a </a:t>
            </a:r>
            <a:r>
              <a:rPr dirty="0" err="1"/>
              <a:t>satisfação</a:t>
            </a:r>
            <a:r>
              <a:rPr dirty="0"/>
              <a:t> do </a:t>
            </a:r>
            <a:r>
              <a:rPr dirty="0" err="1"/>
              <a:t>cliente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39899" y="6154103"/>
            <a:ext cx="63189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DCE8"/>
                </a:solidFill>
              </a:defRPr>
            </a:pPr>
            <a:r>
              <a:rPr lang="pt-BR" dirty="0"/>
              <a:t>Pós Tech em AI Scientist </a:t>
            </a:r>
            <a:r>
              <a:rPr dirty="0"/>
              <a:t>• </a:t>
            </a:r>
            <a:r>
              <a:rPr lang="pt-BR" dirty="0"/>
              <a:t>Tech </a:t>
            </a:r>
            <a:r>
              <a:rPr lang="pt-BR" dirty="0" err="1"/>
              <a:t>Challenge</a:t>
            </a:r>
            <a:r>
              <a:rPr lang="pt-BR" dirty="0"/>
              <a:t> Fase 1 • </a:t>
            </a:r>
            <a:r>
              <a:rPr dirty="0"/>
              <a:t>Vinicius </a:t>
            </a:r>
            <a:r>
              <a:rPr lang="pt-BR" dirty="0"/>
              <a:t>Naziozeno Santoro do </a:t>
            </a:r>
            <a:r>
              <a:rPr dirty="0"/>
              <a:t>Rio</a:t>
            </a:r>
          </a:p>
        </p:txBody>
      </p:sp>
    </p:spTree>
    <p:extLst>
      <p:ext uri="{BB962C8B-B14F-4D97-AF65-F5344CB8AC3E}">
        <p14:creationId xmlns:p14="http://schemas.microsoft.com/office/powerpoint/2010/main" val="1189728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1. Contexto do problema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rPr dirty="0"/>
              <a:t>O NPS </a:t>
            </a:r>
            <a:r>
              <a:rPr dirty="0" err="1"/>
              <a:t>deixa</a:t>
            </a:r>
            <a:r>
              <a:rPr dirty="0"/>
              <a:t> de ser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pós</a:t>
            </a:r>
            <a:r>
              <a:rPr dirty="0"/>
              <a:t>-jornada e </a:t>
            </a:r>
            <a:r>
              <a:rPr dirty="0" err="1"/>
              <a:t>passa</a:t>
            </a:r>
            <a:r>
              <a:rPr dirty="0"/>
              <a:t> a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</a:t>
            </a:r>
            <a:r>
              <a:rPr dirty="0" err="1"/>
              <a:t>preventiva</a:t>
            </a:r>
            <a:r>
              <a:rPr dirty="0"/>
              <a:t>.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06CC07C-1267-C393-169C-062224093B6C}"/>
              </a:ext>
            </a:extLst>
          </p:cNvPr>
          <p:cNvGrpSpPr/>
          <p:nvPr/>
        </p:nvGrpSpPr>
        <p:grpSpPr>
          <a:xfrm>
            <a:off x="594360" y="1417320"/>
            <a:ext cx="3429000" cy="1920240"/>
            <a:chOff x="594360" y="1417320"/>
            <a:chExt cx="3429000" cy="1920240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5631B0DF-230D-9E86-A93D-73C300987442}"/>
                </a:ext>
              </a:extLst>
            </p:cNvPr>
            <p:cNvGrpSpPr/>
            <p:nvPr/>
          </p:nvGrpSpPr>
          <p:grpSpPr>
            <a:xfrm>
              <a:off x="594360" y="1417320"/>
              <a:ext cx="3429000" cy="1920240"/>
              <a:chOff x="594360" y="1417320"/>
              <a:chExt cx="3429000" cy="192024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594360" y="1417320"/>
                <a:ext cx="3429000" cy="1920240"/>
              </a:xfrm>
              <a:prstGeom prst="roundRect">
                <a:avLst/>
              </a:prstGeom>
              <a:solidFill>
                <a:srgbClr val="F2F4F7"/>
              </a:solidFill>
              <a:ln>
                <a:solidFill>
                  <a:srgbClr val="E1E4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22960" y="1581912"/>
                <a:ext cx="3108960" cy="1645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1">
                    <a:solidFill>
                      <a:srgbClr val="0F2743"/>
                    </a:solidFill>
                  </a:defRPr>
                </a:pPr>
                <a:r>
                  <a:t>Crescimento do e-commerce</a:t>
                </a:r>
              </a:p>
              <a:p>
                <a:pPr>
                  <a:spcBef>
                    <a:spcPts val="600"/>
                  </a:spcBef>
                  <a:defRPr sz="1130">
                    <a:solidFill>
                      <a:srgbClr val="595959"/>
                    </a:solidFill>
                  </a:defRPr>
                </a:pPr>
                <a:r>
                  <a:t>Mais pedidos, entregas e interações aumentam a complexidade da operação.</a:t>
                </a: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594360" y="1417320"/>
              <a:ext cx="73152" cy="192024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D0225EC-DE13-9266-E0AA-4951D1C10B95}"/>
              </a:ext>
            </a:extLst>
          </p:cNvPr>
          <p:cNvGrpSpPr/>
          <p:nvPr/>
        </p:nvGrpSpPr>
        <p:grpSpPr>
          <a:xfrm>
            <a:off x="4389120" y="1417320"/>
            <a:ext cx="3429000" cy="1920240"/>
            <a:chOff x="4389120" y="1417320"/>
            <a:chExt cx="3429000" cy="1920240"/>
          </a:xfrm>
        </p:grpSpPr>
        <p:sp>
          <p:nvSpPr>
            <p:cNvPr id="8" name="Rounded Rectangle 7"/>
            <p:cNvSpPr/>
            <p:nvPr/>
          </p:nvSpPr>
          <p:spPr>
            <a:xfrm>
              <a:off x="4389120" y="1417320"/>
              <a:ext cx="3429000" cy="192024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4389120" y="1417320"/>
              <a:ext cx="73152" cy="192024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17720" y="1581912"/>
              <a:ext cx="310896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Desafio</a:t>
              </a:r>
              <a:r>
                <a:rPr dirty="0"/>
                <a:t> de </a:t>
              </a:r>
              <a:r>
                <a:rPr dirty="0" err="1"/>
                <a:t>satisfação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dirty="0" err="1"/>
                <a:t>Clientes</a:t>
              </a:r>
              <a:r>
                <a:rPr dirty="0"/>
                <a:t> com jornadas </a:t>
              </a:r>
              <a:r>
                <a:rPr dirty="0" err="1"/>
                <a:t>parecidas</a:t>
              </a:r>
              <a:r>
                <a:rPr dirty="0"/>
                <a:t> </a:t>
              </a:r>
              <a:r>
                <a:rPr dirty="0" err="1"/>
                <a:t>podem</a:t>
              </a:r>
              <a:r>
                <a:rPr dirty="0"/>
                <a:t> </a:t>
              </a:r>
              <a:r>
                <a:rPr dirty="0" err="1"/>
                <a:t>terminar</a:t>
              </a:r>
              <a:r>
                <a:rPr dirty="0"/>
                <a:t> </a:t>
              </a:r>
              <a:r>
                <a:rPr dirty="0" err="1"/>
                <a:t>como</a:t>
              </a:r>
              <a:r>
                <a:rPr dirty="0"/>
                <a:t> </a:t>
              </a:r>
              <a:r>
                <a:rPr dirty="0" err="1"/>
                <a:t>promotores</a:t>
              </a:r>
              <a:r>
                <a:rPr dirty="0"/>
                <a:t> </a:t>
              </a:r>
              <a:r>
                <a:rPr dirty="0" err="1"/>
                <a:t>ou</a:t>
              </a:r>
              <a:r>
                <a:rPr dirty="0"/>
                <a:t> </a:t>
              </a:r>
              <a:r>
                <a:rPr dirty="0" err="1"/>
                <a:t>detratores</a:t>
              </a:r>
              <a:r>
                <a:rPr dirty="0"/>
                <a:t>.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50103C3-1F3F-4378-5C06-1134B80D2873}"/>
              </a:ext>
            </a:extLst>
          </p:cNvPr>
          <p:cNvGrpSpPr/>
          <p:nvPr/>
        </p:nvGrpSpPr>
        <p:grpSpPr>
          <a:xfrm>
            <a:off x="8183879" y="1417320"/>
            <a:ext cx="3429000" cy="1920240"/>
            <a:chOff x="8183879" y="1417320"/>
            <a:chExt cx="3429000" cy="1920240"/>
          </a:xfrm>
        </p:grpSpPr>
        <p:sp>
          <p:nvSpPr>
            <p:cNvPr id="11" name="Rounded Rectangle 10"/>
            <p:cNvSpPr/>
            <p:nvPr/>
          </p:nvSpPr>
          <p:spPr>
            <a:xfrm>
              <a:off x="8183879" y="1417320"/>
              <a:ext cx="3429000" cy="192024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183879" y="1417320"/>
              <a:ext cx="73152" cy="192024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12480" y="1581912"/>
              <a:ext cx="310896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t>Relevância para o negócio</a:t>
              </a:r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t>O NPS influencia recompra, boca a boca, fidelização e competitividade.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50317" y="3763847"/>
            <a:ext cx="11362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>
              <a:spcAft>
                <a:spcPts val="800"/>
              </a:spcAft>
              <a:defRPr sz="1700">
                <a:solidFill>
                  <a:srgbClr val="0F2743"/>
                </a:solidFill>
              </a:defRPr>
            </a:pPr>
            <a:r>
              <a:rPr sz="2400" b="1" dirty="0" err="1"/>
              <a:t>Problema</a:t>
            </a:r>
            <a:r>
              <a:rPr sz="2400" b="1" dirty="0"/>
              <a:t> central: </a:t>
            </a:r>
            <a:r>
              <a:rPr sz="2400" dirty="0" err="1"/>
              <a:t>identificar</a:t>
            </a:r>
            <a:r>
              <a:rPr sz="2400" dirty="0"/>
              <a:t> quais </a:t>
            </a:r>
            <a:r>
              <a:rPr sz="2400" dirty="0" err="1"/>
              <a:t>fatores</a:t>
            </a:r>
            <a:r>
              <a:rPr sz="2400" dirty="0"/>
              <a:t> </a:t>
            </a:r>
            <a:r>
              <a:rPr sz="2400" dirty="0" err="1"/>
              <a:t>operacionais</a:t>
            </a:r>
            <a:r>
              <a:rPr sz="2400" dirty="0"/>
              <a:t> </a:t>
            </a:r>
            <a:r>
              <a:rPr sz="2400" dirty="0" err="1"/>
              <a:t>mais</a:t>
            </a:r>
            <a:r>
              <a:rPr sz="2400" dirty="0"/>
              <a:t> </a:t>
            </a:r>
            <a:r>
              <a:rPr sz="2400" dirty="0" err="1"/>
              <a:t>influenciam</a:t>
            </a:r>
            <a:r>
              <a:rPr sz="2400" dirty="0"/>
              <a:t> a </a:t>
            </a:r>
            <a:r>
              <a:rPr sz="2400" dirty="0" err="1"/>
              <a:t>satisfação</a:t>
            </a:r>
            <a:r>
              <a:rPr lang="pt-BR" sz="2400" dirty="0"/>
              <a:t>.</a:t>
            </a:r>
            <a:endParaRPr sz="2400" dirty="0"/>
          </a:p>
        </p:txBody>
      </p:sp>
      <p:sp>
        <p:nvSpPr>
          <p:cNvPr id="15" name="Rectangle 14"/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8058208-E90D-9758-E52B-C14AC2B19E03}"/>
              </a:ext>
            </a:extLst>
          </p:cNvPr>
          <p:cNvSpPr txBox="1"/>
          <p:nvPr/>
        </p:nvSpPr>
        <p:spPr>
          <a:xfrm>
            <a:off x="250317" y="4391010"/>
            <a:ext cx="10424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>
              <a:spcAft>
                <a:spcPts val="800"/>
              </a:spcAft>
              <a:defRPr sz="1700">
                <a:solidFill>
                  <a:srgbClr val="0F2743"/>
                </a:solidFill>
              </a:defRPr>
            </a:pPr>
            <a:r>
              <a:rPr sz="2400" b="1" dirty="0" err="1">
                <a:solidFill>
                  <a:srgbClr val="0F2743"/>
                </a:solidFill>
              </a:rPr>
              <a:t>Oportunidade</a:t>
            </a:r>
            <a:r>
              <a:rPr sz="2400" b="1" dirty="0">
                <a:solidFill>
                  <a:srgbClr val="0F2743"/>
                </a:solidFill>
              </a:rPr>
              <a:t>: </a:t>
            </a:r>
            <a:r>
              <a:rPr sz="2400" dirty="0" err="1"/>
              <a:t>agir</a:t>
            </a:r>
            <a:r>
              <a:rPr sz="2400" dirty="0"/>
              <a:t> antes da </a:t>
            </a:r>
            <a:r>
              <a:rPr sz="2400" dirty="0" err="1"/>
              <a:t>pesquisa</a:t>
            </a:r>
            <a:r>
              <a:rPr sz="2400" dirty="0"/>
              <a:t> de NPS, </a:t>
            </a:r>
            <a:r>
              <a:rPr sz="2400" dirty="0" err="1"/>
              <a:t>priorizando</a:t>
            </a:r>
            <a:r>
              <a:rPr sz="2400" dirty="0"/>
              <a:t> </a:t>
            </a:r>
            <a:r>
              <a:rPr sz="2400" dirty="0" err="1"/>
              <a:t>casos</a:t>
            </a:r>
            <a:r>
              <a:rPr sz="2400" dirty="0"/>
              <a:t> com </a:t>
            </a:r>
            <a:r>
              <a:rPr sz="2400" dirty="0" err="1"/>
              <a:t>maior</a:t>
            </a:r>
            <a:r>
              <a:rPr sz="2400" dirty="0"/>
              <a:t> </a:t>
            </a:r>
            <a:r>
              <a:rPr sz="2400" dirty="0" err="1"/>
              <a:t>risco</a:t>
            </a:r>
            <a:r>
              <a:rPr sz="2400" dirty="0"/>
              <a:t> de </a:t>
            </a:r>
            <a:r>
              <a:rPr sz="2400" dirty="0" err="1"/>
              <a:t>insatisfação</a:t>
            </a:r>
            <a:r>
              <a:rPr sz="2400" dirty="0"/>
              <a:t>.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A8AD2AE7-CA46-A95B-7349-4D698D4238D3}"/>
              </a:ext>
            </a:extLst>
          </p:cNvPr>
          <p:cNvSpPr txBox="1"/>
          <p:nvPr/>
        </p:nvSpPr>
        <p:spPr>
          <a:xfrm>
            <a:off x="7773" y="6609588"/>
            <a:ext cx="121916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811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2. Perguntas orientadoras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As perguntas conectam análise de dados, gestão da operação e prevenção de insatisfação.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C6DA82B-5349-4E7F-2D4F-BC0A28F60020}"/>
              </a:ext>
            </a:extLst>
          </p:cNvPr>
          <p:cNvGrpSpPr/>
          <p:nvPr/>
        </p:nvGrpSpPr>
        <p:grpSpPr>
          <a:xfrm>
            <a:off x="6309360" y="1234440"/>
            <a:ext cx="5257800" cy="2057400"/>
            <a:chOff x="6309360" y="1234440"/>
            <a:chExt cx="5257800" cy="2057400"/>
          </a:xfrm>
        </p:grpSpPr>
        <p:sp>
          <p:nvSpPr>
            <p:cNvPr id="8" name="Rounded Rectangle 7"/>
            <p:cNvSpPr/>
            <p:nvPr/>
          </p:nvSpPr>
          <p:spPr>
            <a:xfrm>
              <a:off x="6309360" y="1234440"/>
              <a:ext cx="5257800" cy="205740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309360" y="1234440"/>
              <a:ext cx="73152" cy="2057400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37960" y="1399032"/>
              <a:ext cx="4937760" cy="9694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sz="2000" dirty="0" err="1"/>
                <a:t>Pergunta</a:t>
              </a:r>
              <a:r>
                <a:rPr sz="2000" dirty="0"/>
                <a:t> do </a:t>
              </a:r>
              <a:r>
                <a:rPr sz="2000" dirty="0" err="1"/>
                <a:t>modelo</a:t>
              </a:r>
              <a:endParaRPr sz="2000"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sz="1600" dirty="0"/>
                <a:t>É </a:t>
              </a:r>
              <a:r>
                <a:rPr sz="1600" dirty="0" err="1"/>
                <a:t>possível</a:t>
              </a:r>
              <a:r>
                <a:rPr sz="1600" dirty="0"/>
                <a:t> </a:t>
              </a:r>
              <a:r>
                <a:rPr sz="1600" dirty="0" err="1"/>
                <a:t>estimar</a:t>
              </a:r>
              <a:r>
                <a:rPr sz="1600" dirty="0"/>
                <a:t> a nota de NPS antes da </a:t>
              </a:r>
              <a:r>
                <a:rPr sz="1600" dirty="0" err="1"/>
                <a:t>pesquisa</a:t>
              </a:r>
              <a:r>
                <a:rPr sz="1600" dirty="0"/>
                <a:t> </a:t>
              </a:r>
              <a:r>
                <a:rPr sz="1600" dirty="0" err="1"/>
                <a:t>usando</a:t>
              </a:r>
              <a:r>
                <a:rPr sz="1600" dirty="0"/>
                <a:t> dados da jornada do </a:t>
              </a:r>
              <a:r>
                <a:rPr sz="1600" dirty="0" err="1"/>
                <a:t>cliente</a:t>
              </a:r>
              <a:r>
                <a:rPr sz="1600" dirty="0"/>
                <a:t>?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BE1D0B4-2C7C-3FA6-909B-9338443546B3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68B7FFAF-360E-3267-CB2A-F5A94BB53F69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D4BE9BE-0C83-7841-D5F5-920D665E3C7C}"/>
              </a:ext>
            </a:extLst>
          </p:cNvPr>
          <p:cNvGrpSpPr/>
          <p:nvPr/>
        </p:nvGrpSpPr>
        <p:grpSpPr>
          <a:xfrm>
            <a:off x="685800" y="1234440"/>
            <a:ext cx="5440680" cy="2057400"/>
            <a:chOff x="685800" y="1234440"/>
            <a:chExt cx="5440680" cy="2057400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1234440"/>
              <a:ext cx="5440680" cy="205740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5800" y="1234440"/>
              <a:ext cx="73152" cy="20574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1399032"/>
              <a:ext cx="5120640" cy="1215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sz="2000" dirty="0" err="1"/>
                <a:t>Pergunta</a:t>
              </a:r>
              <a:r>
                <a:rPr sz="2000" dirty="0"/>
                <a:t> principal</a:t>
              </a:r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sz="1600" dirty="0"/>
                <a:t>Quais </a:t>
              </a:r>
              <a:r>
                <a:rPr sz="1600" dirty="0" err="1"/>
                <a:t>fatores</a:t>
              </a:r>
              <a:r>
                <a:rPr sz="1600" dirty="0"/>
                <a:t> </a:t>
              </a:r>
              <a:r>
                <a:rPr sz="1600" dirty="0" err="1"/>
                <a:t>operacionais</a:t>
              </a:r>
              <a:r>
                <a:rPr sz="1600" dirty="0"/>
                <a:t> </a:t>
              </a:r>
              <a:r>
                <a:rPr sz="1600" dirty="0" err="1"/>
                <a:t>mais</a:t>
              </a:r>
              <a:r>
                <a:rPr sz="1600" dirty="0"/>
                <a:t> </a:t>
              </a:r>
              <a:r>
                <a:rPr sz="1600" dirty="0" err="1"/>
                <a:t>influenciam</a:t>
              </a:r>
              <a:r>
                <a:rPr sz="1600" dirty="0"/>
                <a:t> o NPS e </a:t>
              </a:r>
              <a:r>
                <a:rPr sz="1600" dirty="0" err="1"/>
                <a:t>como</a:t>
              </a:r>
              <a:r>
                <a:rPr sz="1600" dirty="0"/>
                <a:t> a </a:t>
              </a:r>
              <a:r>
                <a:rPr sz="1600" dirty="0" err="1"/>
                <a:t>empresa</a:t>
              </a:r>
              <a:r>
                <a:rPr sz="1600" dirty="0"/>
                <a:t> </a:t>
              </a:r>
              <a:r>
                <a:rPr sz="1600" dirty="0" err="1"/>
                <a:t>pode</a:t>
              </a:r>
              <a:r>
                <a:rPr sz="1600" dirty="0"/>
                <a:t> </a:t>
              </a:r>
              <a:r>
                <a:rPr sz="1600" dirty="0" err="1"/>
                <a:t>agir</a:t>
              </a:r>
              <a:r>
                <a:rPr sz="1600" dirty="0"/>
                <a:t> de forma </a:t>
              </a:r>
              <a:r>
                <a:rPr sz="1600" dirty="0" err="1"/>
                <a:t>preventiva</a:t>
              </a:r>
              <a:r>
                <a:rPr sz="1600" dirty="0"/>
                <a:t> para </a:t>
              </a:r>
              <a:r>
                <a:rPr sz="1600" dirty="0" err="1"/>
                <a:t>melhorar</a:t>
              </a:r>
              <a:r>
                <a:rPr sz="1600" dirty="0"/>
                <a:t> a </a:t>
              </a:r>
              <a:r>
                <a:rPr sz="1600" dirty="0" err="1"/>
                <a:t>experiência</a:t>
              </a:r>
              <a:r>
                <a:rPr dirty="0"/>
                <a:t>?</a:t>
              </a:r>
            </a:p>
          </p:txBody>
        </p:sp>
      </p:grp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8DB7247B-8A38-4104-436F-0463DCA3CC5C}"/>
              </a:ext>
            </a:extLst>
          </p:cNvPr>
          <p:cNvSpPr/>
          <p:nvPr/>
        </p:nvSpPr>
        <p:spPr>
          <a:xfrm>
            <a:off x="685800" y="3761994"/>
            <a:ext cx="2583180" cy="20574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550">
                <a:solidFill>
                  <a:srgbClr val="595959"/>
                </a:solidFill>
              </a:defRPr>
            </a:pPr>
            <a:r>
              <a:rPr lang="pt-BR" sz="1600" b="1" dirty="0">
                <a:solidFill>
                  <a:srgbClr val="5B9BD5"/>
                </a:solidFill>
              </a:rPr>
              <a:t>Entender</a:t>
            </a:r>
            <a:r>
              <a:rPr lang="pt-BR" sz="1600" dirty="0">
                <a:solidFill>
                  <a:schemeClr val="tx1"/>
                </a:solidFill>
              </a:rPr>
              <a:t> o contexto do problema de negócio</a:t>
            </a: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EA4BC2E5-862C-075F-1131-B112A3EC0CFF}"/>
              </a:ext>
            </a:extLst>
          </p:cNvPr>
          <p:cNvSpPr/>
          <p:nvPr/>
        </p:nvSpPr>
        <p:spPr>
          <a:xfrm>
            <a:off x="8983980" y="3761994"/>
            <a:ext cx="2583180" cy="20574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550">
                <a:solidFill>
                  <a:srgbClr val="595959"/>
                </a:solidFill>
              </a:defRPr>
            </a:pPr>
            <a:r>
              <a:rPr lang="pt-BR" sz="1600" b="1" dirty="0">
                <a:solidFill>
                  <a:srgbClr val="5B9BD5"/>
                </a:solidFill>
              </a:rPr>
              <a:t>Propor </a:t>
            </a:r>
            <a:r>
              <a:rPr lang="pt-BR" sz="1600" dirty="0">
                <a:solidFill>
                  <a:schemeClr val="tx1"/>
                </a:solidFill>
              </a:rPr>
              <a:t>recomendações práticas e apontar limitações da estratégia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1534F0FB-5378-1C38-FC32-66B725E14BD8}"/>
              </a:ext>
            </a:extLst>
          </p:cNvPr>
          <p:cNvSpPr/>
          <p:nvPr/>
        </p:nvSpPr>
        <p:spPr>
          <a:xfrm>
            <a:off x="3451860" y="3761994"/>
            <a:ext cx="2583180" cy="20574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550">
                <a:solidFill>
                  <a:srgbClr val="595959"/>
                </a:solidFill>
              </a:defRPr>
            </a:pPr>
            <a:r>
              <a:rPr lang="pt-BR" sz="1600" b="1" dirty="0">
                <a:solidFill>
                  <a:srgbClr val="5B9BD5"/>
                </a:solidFill>
              </a:rPr>
              <a:t>Analisar</a:t>
            </a:r>
            <a:r>
              <a:rPr lang="pt-BR" sz="1600" b="1" dirty="0">
                <a:solidFill>
                  <a:srgbClr val="00B050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os dados para identificar padrões relevantes</a:t>
            </a: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C8FFCAD5-E252-0846-E0C8-A42E6968B300}"/>
              </a:ext>
            </a:extLst>
          </p:cNvPr>
          <p:cNvSpPr/>
          <p:nvPr/>
        </p:nvSpPr>
        <p:spPr>
          <a:xfrm>
            <a:off x="6217920" y="3761994"/>
            <a:ext cx="2583180" cy="205740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550">
                <a:solidFill>
                  <a:srgbClr val="595959"/>
                </a:solidFill>
              </a:defRPr>
            </a:pPr>
            <a:r>
              <a:rPr lang="pt-BR" sz="1600" b="1" dirty="0">
                <a:solidFill>
                  <a:srgbClr val="5B9BD5"/>
                </a:solidFill>
              </a:rPr>
              <a:t>Identificar</a:t>
            </a:r>
            <a:r>
              <a:rPr lang="pt-BR" sz="1600" dirty="0">
                <a:solidFill>
                  <a:schemeClr val="tx1"/>
                </a:solidFill>
              </a:rPr>
              <a:t> fatores que impactam a satisfação do cliente</a:t>
            </a:r>
          </a:p>
        </p:txBody>
      </p:sp>
    </p:spTree>
    <p:extLst>
      <p:ext uri="{BB962C8B-B14F-4D97-AF65-F5344CB8AC3E}">
        <p14:creationId xmlns:p14="http://schemas.microsoft.com/office/powerpoint/2010/main" val="3493832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rPr dirty="0"/>
              <a:t>3. Base de dados e </a:t>
            </a:r>
            <a:r>
              <a:rPr dirty="0" err="1"/>
              <a:t>metodologia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 análise combina entendimento de negócio, EDA e uma proposta simples de modelo preditivo.</a:t>
            </a: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242E750-A8EC-8892-B0E9-3F71F05E47EE}"/>
              </a:ext>
            </a:extLst>
          </p:cNvPr>
          <p:cNvGrpSpPr/>
          <p:nvPr/>
        </p:nvGrpSpPr>
        <p:grpSpPr>
          <a:xfrm>
            <a:off x="1363980" y="1587500"/>
            <a:ext cx="9464040" cy="1143000"/>
            <a:chOff x="1363980" y="1587500"/>
            <a:chExt cx="9464040" cy="1143000"/>
          </a:xfrm>
        </p:grpSpPr>
        <p:sp>
          <p:nvSpPr>
            <p:cNvPr id="5" name="Rounded Rectangle 4"/>
            <p:cNvSpPr/>
            <p:nvPr/>
          </p:nvSpPr>
          <p:spPr>
            <a:xfrm>
              <a:off x="1363980" y="1587500"/>
              <a:ext cx="2194560" cy="1143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55420" y="1697228"/>
              <a:ext cx="2011679" cy="9601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1F4E79"/>
                  </a:solidFill>
                </a:defRPr>
              </a:pPr>
              <a:r>
                <a:t>2.500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t>registros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87140" y="1587500"/>
              <a:ext cx="2194560" cy="1143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878580" y="1697228"/>
              <a:ext cx="2011679" cy="9601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1F4E79"/>
                  </a:solidFill>
                </a:defRPr>
              </a:pPr>
              <a:r>
                <a:t>21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t>variáveis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10300" y="1587500"/>
              <a:ext cx="2194560" cy="1143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01739" y="1697228"/>
              <a:ext cx="2011679" cy="9601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ED7D31"/>
                  </a:solidFill>
                </a:defRPr>
              </a:pPr>
              <a:r>
                <a:t>4,38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t>NPS médio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633460" y="1587500"/>
              <a:ext cx="2194560" cy="1143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24900" y="1697228"/>
              <a:ext cx="2011679" cy="9601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70AD47"/>
                  </a:solidFill>
                </a:defRPr>
              </a:pPr>
              <a:r>
                <a:t>0 a 10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t>escala NPS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F38652E8-4396-A8C1-2745-DD02FF9A2135}"/>
              </a:ext>
            </a:extLst>
          </p:cNvPr>
          <p:cNvGrpSpPr/>
          <p:nvPr/>
        </p:nvGrpSpPr>
        <p:grpSpPr>
          <a:xfrm>
            <a:off x="450582" y="3040846"/>
            <a:ext cx="2052000" cy="1325880"/>
            <a:chOff x="255270" y="3040846"/>
            <a:chExt cx="2052000" cy="1325880"/>
          </a:xfrm>
        </p:grpSpPr>
        <p:sp>
          <p:nvSpPr>
            <p:cNvPr id="13" name="Rounded Rectangle 12"/>
            <p:cNvSpPr/>
            <p:nvPr/>
          </p:nvSpPr>
          <p:spPr>
            <a:xfrm>
              <a:off x="255270" y="3040846"/>
              <a:ext cx="2052000" cy="132588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5270" y="3040846"/>
              <a:ext cx="73152" cy="132588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3870" y="3205438"/>
              <a:ext cx="1684800" cy="732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Cliente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dirty="0" err="1"/>
                <a:t>Idade</a:t>
              </a:r>
              <a:r>
                <a:rPr dirty="0"/>
                <a:t>, </a:t>
              </a:r>
              <a:r>
                <a:rPr dirty="0" err="1"/>
                <a:t>região</a:t>
              </a:r>
              <a:r>
                <a:rPr dirty="0"/>
                <a:t> e tempo de </a:t>
              </a:r>
              <a:r>
                <a:rPr dirty="0" err="1"/>
                <a:t>relacionamento</a:t>
              </a:r>
              <a:r>
                <a:rPr dirty="0"/>
                <a:t>.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D55ECECE-52D6-3E7E-475B-64B182D38878}"/>
              </a:ext>
            </a:extLst>
          </p:cNvPr>
          <p:cNvGrpSpPr/>
          <p:nvPr/>
        </p:nvGrpSpPr>
        <p:grpSpPr>
          <a:xfrm>
            <a:off x="2756568" y="3040846"/>
            <a:ext cx="2052000" cy="1325880"/>
            <a:chOff x="2586990" y="3040846"/>
            <a:chExt cx="2052000" cy="1325880"/>
          </a:xfrm>
        </p:grpSpPr>
        <p:sp>
          <p:nvSpPr>
            <p:cNvPr id="16" name="Rounded Rectangle 15"/>
            <p:cNvSpPr/>
            <p:nvPr/>
          </p:nvSpPr>
          <p:spPr>
            <a:xfrm>
              <a:off x="2586990" y="3040846"/>
              <a:ext cx="2052000" cy="132588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586990" y="3040846"/>
              <a:ext cx="73152" cy="1325880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15590" y="3205438"/>
              <a:ext cx="1684800" cy="1051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Pedido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dirty="0"/>
                <a:t>Valor, </a:t>
              </a:r>
              <a:r>
                <a:rPr dirty="0" err="1"/>
                <a:t>itens</a:t>
              </a:r>
              <a:r>
                <a:rPr dirty="0"/>
                <a:t>, </a:t>
              </a:r>
              <a:r>
                <a:rPr dirty="0" err="1"/>
                <a:t>desconto</a:t>
              </a:r>
              <a:r>
                <a:rPr dirty="0"/>
                <a:t> e </a:t>
              </a:r>
              <a:r>
                <a:rPr dirty="0" err="1"/>
                <a:t>parcelas</a:t>
              </a:r>
              <a:r>
                <a:rPr dirty="0"/>
                <a:t>.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3EA0AB8A-AD29-430B-87A8-4E7B125A0086}"/>
              </a:ext>
            </a:extLst>
          </p:cNvPr>
          <p:cNvGrpSpPr/>
          <p:nvPr/>
        </p:nvGrpSpPr>
        <p:grpSpPr>
          <a:xfrm>
            <a:off x="5062554" y="3040846"/>
            <a:ext cx="2052000" cy="1325880"/>
            <a:chOff x="4918710" y="3040846"/>
            <a:chExt cx="2052000" cy="1325880"/>
          </a:xfrm>
        </p:grpSpPr>
        <p:sp>
          <p:nvSpPr>
            <p:cNvPr id="19" name="Rounded Rectangle 18"/>
            <p:cNvSpPr/>
            <p:nvPr/>
          </p:nvSpPr>
          <p:spPr>
            <a:xfrm>
              <a:off x="4918710" y="3040846"/>
              <a:ext cx="2052000" cy="132588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18710" y="3040846"/>
              <a:ext cx="73152" cy="132588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47310" y="3205438"/>
              <a:ext cx="1684800" cy="1051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Logística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dirty="0"/>
                <a:t>Tempo de </a:t>
              </a:r>
              <a:r>
                <a:rPr dirty="0" err="1"/>
                <a:t>entrega</a:t>
              </a:r>
              <a:r>
                <a:rPr dirty="0"/>
                <a:t>, </a:t>
              </a:r>
              <a:r>
                <a:rPr dirty="0" err="1"/>
                <a:t>atraso</a:t>
              </a:r>
              <a:r>
                <a:rPr dirty="0"/>
                <a:t>, </a:t>
              </a:r>
              <a:r>
                <a:rPr dirty="0" err="1"/>
                <a:t>frete</a:t>
              </a:r>
              <a:r>
                <a:rPr dirty="0"/>
                <a:t> e </a:t>
              </a:r>
              <a:r>
                <a:rPr dirty="0" err="1"/>
                <a:t>tentativas</a:t>
              </a:r>
              <a:r>
                <a:rPr dirty="0"/>
                <a:t>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58726D3D-CD9C-65DF-AE02-2E56F868C48A}"/>
              </a:ext>
            </a:extLst>
          </p:cNvPr>
          <p:cNvGrpSpPr/>
          <p:nvPr/>
        </p:nvGrpSpPr>
        <p:grpSpPr>
          <a:xfrm>
            <a:off x="7368540" y="3040846"/>
            <a:ext cx="2052000" cy="1325880"/>
            <a:chOff x="7250429" y="3040846"/>
            <a:chExt cx="2052000" cy="1325880"/>
          </a:xfrm>
        </p:grpSpPr>
        <p:sp>
          <p:nvSpPr>
            <p:cNvPr id="22" name="Rounded Rectangle 21"/>
            <p:cNvSpPr/>
            <p:nvPr/>
          </p:nvSpPr>
          <p:spPr>
            <a:xfrm>
              <a:off x="7250429" y="3040846"/>
              <a:ext cx="2052000" cy="132588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250429" y="3040846"/>
              <a:ext cx="73152" cy="13258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9029" y="3205438"/>
              <a:ext cx="1684800" cy="1051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Atendimento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dirty="0" err="1"/>
                <a:t>Contatos</a:t>
              </a:r>
              <a:r>
                <a:rPr dirty="0"/>
                <a:t>, </a:t>
              </a:r>
              <a:r>
                <a:rPr dirty="0" err="1"/>
                <a:t>resolução</a:t>
              </a:r>
              <a:r>
                <a:rPr dirty="0"/>
                <a:t> e </a:t>
              </a:r>
              <a:r>
                <a:rPr dirty="0" err="1"/>
                <a:t>reclamações</a:t>
              </a:r>
              <a:r>
                <a:rPr dirty="0"/>
                <a:t>.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C15449B-EA35-5683-21F1-CAEE4B995DFD}"/>
              </a:ext>
            </a:extLst>
          </p:cNvPr>
          <p:cNvGrpSpPr/>
          <p:nvPr/>
        </p:nvGrpSpPr>
        <p:grpSpPr>
          <a:xfrm>
            <a:off x="9674525" y="3040846"/>
            <a:ext cx="2052000" cy="1325880"/>
            <a:chOff x="9444990" y="3040846"/>
            <a:chExt cx="2052000" cy="1325880"/>
          </a:xfrm>
        </p:grpSpPr>
        <p:sp>
          <p:nvSpPr>
            <p:cNvPr id="25" name="Rounded Rectangle 24"/>
            <p:cNvSpPr/>
            <p:nvPr/>
          </p:nvSpPr>
          <p:spPr>
            <a:xfrm>
              <a:off x="9444990" y="3040846"/>
              <a:ext cx="2052000" cy="132588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444990" y="3040846"/>
              <a:ext cx="73152" cy="132588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73590" y="3205438"/>
              <a:ext cx="1684800" cy="1051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t>Satisfação</a:t>
              </a:r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t>NPS, CSAT e recompra.</a:t>
              </a:r>
            </a:p>
          </p:txBody>
        </p:sp>
      </p:grpSp>
      <p:sp>
        <p:nvSpPr>
          <p:cNvPr id="32" name="Rectangle 14">
            <a:extLst>
              <a:ext uri="{FF2B5EF4-FFF2-40B4-BE49-F238E27FC236}">
                <a16:creationId xmlns:a16="http://schemas.microsoft.com/office/drawing/2014/main" id="{1E0000DD-77AB-BDF7-6274-50CEDA02FFDB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89B75390-E5B7-2476-E4D9-434B6B77563C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88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4">
            <a:extLst>
              <a:ext uri="{FF2B5EF4-FFF2-40B4-BE49-F238E27FC236}">
                <a16:creationId xmlns:a16="http://schemas.microsoft.com/office/drawing/2014/main" id="{1E0000DD-77AB-BDF7-6274-50CEDA02FFDB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89B75390-E5B7-2476-E4D9-434B6B77563C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AA9E673-C7DC-67C9-83BB-48C56F60FC52}"/>
              </a:ext>
            </a:extLst>
          </p:cNvPr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rPr dirty="0"/>
              <a:t>3. Base de dados e </a:t>
            </a:r>
            <a:r>
              <a:rPr dirty="0" err="1"/>
              <a:t>metodologia</a:t>
            </a:r>
            <a:endParaRPr dirty="0"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072F07E6-B51F-972E-D17D-42746168CFAA}"/>
              </a:ext>
            </a:extLst>
          </p:cNvPr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 análise combina entendimento de negócio, EDA e uma proposta simples de modelo preditivo.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934D8567-F788-3A5C-C36E-39B75D2E78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00675" y="1563965"/>
            <a:ext cx="11339543" cy="2877561"/>
          </a:xfrm>
          <a:prstGeom prst="rect">
            <a:avLst/>
          </a:prstGeom>
        </p:spPr>
      </p:pic>
      <p:pic>
        <p:nvPicPr>
          <p:cNvPr id="2050" name="Picture 2" descr="Cross Industry Standard Process for Data Mining – Wikipédia, a enciclopédia  livre">
            <a:extLst>
              <a:ext uri="{FF2B5EF4-FFF2-40B4-BE49-F238E27FC236}">
                <a16:creationId xmlns:a16="http://schemas.microsoft.com/office/drawing/2014/main" id="{67730BE7-806B-C9AE-ED6B-1EB2461CC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850" y="1445926"/>
            <a:ext cx="4432300" cy="444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">
            <a:extLst>
              <a:ext uri="{FF2B5EF4-FFF2-40B4-BE49-F238E27FC236}">
                <a16:creationId xmlns:a16="http://schemas.microsoft.com/office/drawing/2014/main" id="{172B9803-D871-BAEC-11DE-C61BDC14E3F4}"/>
              </a:ext>
            </a:extLst>
          </p:cNvPr>
          <p:cNvSpPr txBox="1"/>
          <p:nvPr/>
        </p:nvSpPr>
        <p:spPr>
          <a:xfrm>
            <a:off x="0" y="5865454"/>
            <a:ext cx="1219199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2743"/>
                </a:solidFill>
              </a:defRPr>
            </a:pPr>
            <a:r>
              <a:rPr lang="pt-BR" dirty="0"/>
              <a:t>Metodologia CRISP-DM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4596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4. Panorama do NPS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 base apresenta alta concentração de detratores, indicando oportunidade clara de melhoria na experiência.</a:t>
            </a:r>
          </a:p>
        </p:txBody>
      </p:sp>
      <p:pic>
        <p:nvPicPr>
          <p:cNvPr id="5" name="Picture 4" descr="classe_n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46504"/>
            <a:ext cx="54864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325880"/>
            <a:ext cx="484632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37960" y="1325880"/>
            <a:ext cx="73152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490472"/>
            <a:ext cx="45262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3"/>
                </a:solidFill>
              </a:defRPr>
            </a:pPr>
            <a:r>
              <a:t>Leitura executiva</a:t>
            </a:r>
          </a:p>
          <a:p>
            <a:pPr>
              <a:spcBef>
                <a:spcPts val="600"/>
              </a:spcBef>
              <a:defRPr sz="1130">
                <a:solidFill>
                  <a:srgbClr val="595959"/>
                </a:solidFill>
              </a:defRPr>
            </a:pPr>
            <a:r>
              <a:t>74.0% dos clientes estão classificados como detratores, enquanto apenas 8.0% aparecem como promotores.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697480"/>
            <a:ext cx="484632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7960" y="2697480"/>
            <a:ext cx="731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862072"/>
            <a:ext cx="45262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3"/>
                </a:solidFill>
              </a:defRPr>
            </a:pPr>
            <a:r>
              <a:t>Implicação de negócio</a:t>
            </a:r>
          </a:p>
          <a:p>
            <a:pPr>
              <a:spcBef>
                <a:spcPts val="600"/>
              </a:spcBef>
              <a:defRPr sz="1130">
                <a:solidFill>
                  <a:srgbClr val="595959"/>
                </a:solidFill>
              </a:defRPr>
            </a:pPr>
            <a:r>
              <a:t>A operação deve priorizar os eventos que reduzem atrito na jornada, principalmente entrega e atendimento.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069080"/>
            <a:ext cx="484632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4069080"/>
            <a:ext cx="73152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4233672"/>
            <a:ext cx="4526280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3"/>
                </a:solidFill>
              </a:defRPr>
            </a:pPr>
            <a:r>
              <a:rPr dirty="0" err="1"/>
              <a:t>Uso</a:t>
            </a:r>
            <a:r>
              <a:rPr dirty="0"/>
              <a:t> no </a:t>
            </a:r>
            <a:r>
              <a:rPr lang="pt-BR" dirty="0" err="1"/>
              <a:t>observability</a:t>
            </a:r>
            <a:endParaRPr dirty="0"/>
          </a:p>
          <a:p>
            <a:pPr>
              <a:spcBef>
                <a:spcPts val="600"/>
              </a:spcBef>
              <a:defRPr sz="1130">
                <a:solidFill>
                  <a:srgbClr val="595959"/>
                </a:solidFill>
              </a:defRPr>
            </a:pPr>
            <a:r>
              <a:rPr dirty="0"/>
              <a:t>O NPS </a:t>
            </a:r>
            <a:r>
              <a:rPr dirty="0" err="1"/>
              <a:t>médio</a:t>
            </a:r>
            <a:r>
              <a:rPr dirty="0"/>
              <a:t> e a </a:t>
            </a:r>
            <a:r>
              <a:rPr dirty="0" err="1"/>
              <a:t>distribuição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ajudam</a:t>
            </a:r>
            <a:r>
              <a:rPr dirty="0"/>
              <a:t> a </a:t>
            </a:r>
            <a:r>
              <a:rPr dirty="0" err="1"/>
              <a:t>traduzir</a:t>
            </a:r>
            <a:r>
              <a:rPr dirty="0"/>
              <a:t> a </a:t>
            </a:r>
            <a:r>
              <a:rPr dirty="0" err="1"/>
              <a:t>satisfação</a:t>
            </a:r>
            <a:r>
              <a:rPr dirty="0"/>
              <a:t> em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linguagem</a:t>
            </a:r>
            <a:r>
              <a:rPr dirty="0"/>
              <a:t> simples para </a:t>
            </a:r>
            <a:r>
              <a:rPr lang="pt-BR" dirty="0"/>
              <a:t>monitoramento dos dados</a:t>
            </a:r>
            <a:r>
              <a:rPr dirty="0"/>
              <a:t>.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174CC0E4-4879-0461-0ED3-09212B7AF641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A15895F-7A4F-46B7-86BA-D2C2E2FDA9EC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841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5. Pontos de ruptura na experiência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Atrasos e reclamações reduzem fortemente a nota média de satisfação.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1775" y="-1636776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>
              <a:spcAft>
                <a:spcPts val="800"/>
              </a:spcAft>
              <a:defRPr sz="1450">
                <a:solidFill>
                  <a:srgbClr val="595959"/>
                </a:solidFill>
              </a:defRPr>
            </a:pPr>
            <a:r>
              <a:rPr dirty="0" err="1"/>
              <a:t>Pedidos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apresentam</a:t>
            </a:r>
            <a:r>
              <a:rPr dirty="0"/>
              <a:t> NPS </a:t>
            </a:r>
            <a:r>
              <a:rPr dirty="0" err="1"/>
              <a:t>médio</a:t>
            </a:r>
            <a:r>
              <a:rPr dirty="0"/>
              <a:t> de 6,86; com 6+ </a:t>
            </a:r>
            <a:r>
              <a:rPr dirty="0" err="1"/>
              <a:t>dias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, o NPS </a:t>
            </a:r>
            <a:r>
              <a:rPr dirty="0" err="1"/>
              <a:t>cai</a:t>
            </a:r>
            <a:r>
              <a:rPr dirty="0"/>
              <a:t> para 0,81,</a:t>
            </a:r>
          </a:p>
          <a:p>
            <a:pPr marL="285750">
              <a:spcAft>
                <a:spcPts val="800"/>
              </a:spcAft>
              <a:defRPr sz="1450">
                <a:solidFill>
                  <a:srgbClr val="595959"/>
                </a:solidFill>
              </a:defRPr>
            </a:pPr>
            <a:r>
              <a:rPr dirty="0"/>
              <a:t>O </a:t>
            </a:r>
            <a:r>
              <a:rPr dirty="0" err="1"/>
              <a:t>aumento</a:t>
            </a:r>
            <a:r>
              <a:rPr dirty="0"/>
              <a:t> de </a:t>
            </a:r>
            <a:r>
              <a:rPr dirty="0" err="1"/>
              <a:t>reclamações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acompanha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consistente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satisfação</a:t>
            </a:r>
            <a:r>
              <a:rPr dirty="0"/>
              <a:t>.</a:t>
            </a:r>
          </a:p>
          <a:p>
            <a:pPr marL="285750">
              <a:spcAft>
                <a:spcPts val="800"/>
              </a:spcAft>
              <a:defRPr sz="1450">
                <a:solidFill>
                  <a:srgbClr val="595959"/>
                </a:solidFill>
              </a:defRPr>
            </a:pPr>
            <a:r>
              <a:rPr dirty="0"/>
              <a:t>Esses </a:t>
            </a:r>
            <a:r>
              <a:rPr dirty="0" err="1"/>
              <a:t>sinais</a:t>
            </a:r>
            <a:r>
              <a:rPr dirty="0"/>
              <a:t> </a:t>
            </a:r>
            <a:r>
              <a:rPr dirty="0" err="1"/>
              <a:t>funcionam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gatilhos</a:t>
            </a:r>
            <a:r>
              <a:rPr dirty="0"/>
              <a:t> </a:t>
            </a:r>
            <a:r>
              <a:rPr dirty="0" err="1"/>
              <a:t>operacionais</a:t>
            </a:r>
            <a:r>
              <a:rPr dirty="0"/>
              <a:t> para </a:t>
            </a:r>
            <a:r>
              <a:rPr dirty="0" err="1"/>
              <a:t>atuação</a:t>
            </a:r>
            <a:r>
              <a:rPr dirty="0"/>
              <a:t> </a:t>
            </a:r>
            <a:r>
              <a:rPr dirty="0" err="1"/>
              <a:t>preventiva</a:t>
            </a:r>
            <a:r>
              <a:rPr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ACEA8C-9C77-85A8-82BD-5AEE83D944E0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B723446-06DB-F22B-34B1-CE452D863486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38092BF-221F-3492-C446-727FBE582E71}"/>
              </a:ext>
            </a:extLst>
          </p:cNvPr>
          <p:cNvGrpSpPr/>
          <p:nvPr/>
        </p:nvGrpSpPr>
        <p:grpSpPr>
          <a:xfrm>
            <a:off x="6217920" y="1351407"/>
            <a:ext cx="5486400" cy="4600030"/>
            <a:chOff x="6217920" y="1351407"/>
            <a:chExt cx="5486400" cy="4600030"/>
          </a:xfrm>
        </p:grpSpPr>
        <p:pic>
          <p:nvPicPr>
            <p:cNvPr id="6" name="Picture 5" descr="nps_reclamacoe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7920" y="1351407"/>
              <a:ext cx="5486400" cy="3154680"/>
            </a:xfrm>
            <a:prstGeom prst="rect">
              <a:avLst/>
            </a:prstGeom>
          </p:spPr>
        </p:pic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D0878C3D-A5FE-6728-75B9-F2E8CA19E26C}"/>
                </a:ext>
              </a:extLst>
            </p:cNvPr>
            <p:cNvSpPr/>
            <p:nvPr/>
          </p:nvSpPr>
          <p:spPr>
            <a:xfrm>
              <a:off x="6675209" y="4854157"/>
              <a:ext cx="4846320" cy="109728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8F2360AC-3086-2349-E11E-4EC975305770}"/>
                </a:ext>
              </a:extLst>
            </p:cNvPr>
            <p:cNvSpPr/>
            <p:nvPr/>
          </p:nvSpPr>
          <p:spPr>
            <a:xfrm>
              <a:off x="6675209" y="4854157"/>
              <a:ext cx="73152" cy="10972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DE1B23DA-79D7-0547-B24C-1EA5FDC1768E}"/>
                </a:ext>
              </a:extLst>
            </p:cNvPr>
            <p:cNvSpPr txBox="1"/>
            <p:nvPr/>
          </p:nvSpPr>
          <p:spPr>
            <a:xfrm>
              <a:off x="6903809" y="5018749"/>
              <a:ext cx="4526280" cy="732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Leitura</a:t>
              </a:r>
              <a:r>
                <a:rPr dirty="0"/>
                <a:t> </a:t>
              </a:r>
              <a:r>
                <a:rPr dirty="0" err="1"/>
                <a:t>executiva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lang="pt-BR" dirty="0"/>
                <a:t>O aumento de reclamações também acompanha queda consistente na satisfação.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91FC3598-2CF6-D0FC-2C1E-4BD90A70B432}"/>
              </a:ext>
            </a:extLst>
          </p:cNvPr>
          <p:cNvGrpSpPr/>
          <p:nvPr/>
        </p:nvGrpSpPr>
        <p:grpSpPr>
          <a:xfrm>
            <a:off x="502920" y="1351407"/>
            <a:ext cx="5486400" cy="4600030"/>
            <a:chOff x="502920" y="1351407"/>
            <a:chExt cx="5486400" cy="4600030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D4163248-4019-F6C2-D047-076CB67BF136}"/>
                </a:ext>
              </a:extLst>
            </p:cNvPr>
            <p:cNvGrpSpPr/>
            <p:nvPr/>
          </p:nvGrpSpPr>
          <p:grpSpPr>
            <a:xfrm>
              <a:off x="502920" y="1351407"/>
              <a:ext cx="5486400" cy="4600030"/>
              <a:chOff x="502920" y="1351407"/>
              <a:chExt cx="5486400" cy="4600030"/>
            </a:xfrm>
          </p:grpSpPr>
          <p:pic>
            <p:nvPicPr>
              <p:cNvPr id="5" name="Picture 4" descr="nps_atraso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920" y="1351407"/>
                <a:ext cx="5486400" cy="3154680"/>
              </a:xfrm>
              <a:prstGeom prst="rect">
                <a:avLst/>
              </a:prstGeom>
            </p:spPr>
          </p:pic>
          <p:sp>
            <p:nvSpPr>
              <p:cNvPr id="12" name="Rounded Rectangle 5">
                <a:extLst>
                  <a:ext uri="{FF2B5EF4-FFF2-40B4-BE49-F238E27FC236}">
                    <a16:creationId xmlns:a16="http://schemas.microsoft.com/office/drawing/2014/main" id="{1B7DEE47-A055-C601-F56F-3AEF96C444D5}"/>
                  </a:ext>
                </a:extLst>
              </p:cNvPr>
              <p:cNvSpPr/>
              <p:nvPr/>
            </p:nvSpPr>
            <p:spPr>
              <a:xfrm>
                <a:off x="935445" y="4854157"/>
                <a:ext cx="4846320" cy="1097280"/>
              </a:xfrm>
              <a:prstGeom prst="roundRect">
                <a:avLst/>
              </a:prstGeom>
              <a:solidFill>
                <a:srgbClr val="F2F4F7"/>
              </a:solidFill>
              <a:ln>
                <a:solidFill>
                  <a:srgbClr val="E1E4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95960D86-6929-EA61-1BDF-C74B80EEFAD9}"/>
                  </a:ext>
                </a:extLst>
              </p:cNvPr>
              <p:cNvSpPr txBox="1"/>
              <p:nvPr/>
            </p:nvSpPr>
            <p:spPr>
              <a:xfrm>
                <a:off x="1164045" y="5018749"/>
                <a:ext cx="4526280" cy="732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1">
                    <a:solidFill>
                      <a:srgbClr val="0F2743"/>
                    </a:solidFill>
                  </a:defRPr>
                </a:pPr>
                <a:r>
                  <a:rPr dirty="0" err="1"/>
                  <a:t>Leitura</a:t>
                </a:r>
                <a:r>
                  <a:rPr dirty="0"/>
                  <a:t> </a:t>
                </a:r>
                <a:r>
                  <a:rPr dirty="0" err="1"/>
                  <a:t>executiva</a:t>
                </a:r>
                <a:endParaRPr dirty="0"/>
              </a:p>
              <a:p>
                <a:pPr>
                  <a:spcBef>
                    <a:spcPts val="600"/>
                  </a:spcBef>
                  <a:defRPr sz="1130">
                    <a:solidFill>
                      <a:srgbClr val="595959"/>
                    </a:solidFill>
                  </a:defRPr>
                </a:pPr>
                <a:r>
                  <a:rPr lang="pt-BR" dirty="0"/>
                  <a:t>Pedidos sem atraso apresentam NPS médio de 6,86; </a:t>
                </a:r>
                <a:r>
                  <a:rPr lang="pt-BR" b="1" dirty="0"/>
                  <a:t>com 6+ dias de atraso, o NPS cai para 0,8.</a:t>
                </a:r>
              </a:p>
            </p:txBody>
          </p:sp>
        </p:grp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840C5B1-52A6-BCBC-A3C5-819F9CF4800B}"/>
                </a:ext>
              </a:extLst>
            </p:cNvPr>
            <p:cNvSpPr/>
            <p:nvPr/>
          </p:nvSpPr>
          <p:spPr>
            <a:xfrm>
              <a:off x="935445" y="4854157"/>
              <a:ext cx="73152" cy="109728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2290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6. Fatores que mais impactam a satisfação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 experiência é resultado da combinação entre logística, atendimento e relacionamento.</a:t>
            </a:r>
          </a:p>
        </p:txBody>
      </p:sp>
      <p:pic>
        <p:nvPicPr>
          <p:cNvPr id="5" name="Picture 4" descr="correlacao_n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5486400" cy="3794760"/>
          </a:xfrm>
          <a:prstGeom prst="rect">
            <a:avLst/>
          </a:prstGeom>
        </p:spPr>
      </p:pic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2CFF71E-108D-26C7-D43C-EE31680BB74A}"/>
              </a:ext>
            </a:extLst>
          </p:cNvPr>
          <p:cNvGrpSpPr/>
          <p:nvPr/>
        </p:nvGrpSpPr>
        <p:grpSpPr>
          <a:xfrm>
            <a:off x="6611112" y="1920621"/>
            <a:ext cx="4754880" cy="914400"/>
            <a:chOff x="6611112" y="1920621"/>
            <a:chExt cx="4754880" cy="914400"/>
          </a:xfrm>
        </p:grpSpPr>
        <p:sp>
          <p:nvSpPr>
            <p:cNvPr id="6" name="Rounded Rectangle 5"/>
            <p:cNvSpPr/>
            <p:nvPr/>
          </p:nvSpPr>
          <p:spPr>
            <a:xfrm>
              <a:off x="6611112" y="1920621"/>
              <a:ext cx="4754880" cy="91440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6611112" y="1920621"/>
              <a:ext cx="73152" cy="914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9712" y="2085213"/>
              <a:ext cx="44348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t>Fatores negativos</a:t>
              </a:r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t>Atraso na entrega, reclamações, contatos com atendimento e tempo de resolução estão associados à queda do NPS.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CB008C5D-11F8-5A70-622E-F324F8A887BB}"/>
              </a:ext>
            </a:extLst>
          </p:cNvPr>
          <p:cNvGrpSpPr/>
          <p:nvPr/>
        </p:nvGrpSpPr>
        <p:grpSpPr>
          <a:xfrm>
            <a:off x="6611112" y="3109341"/>
            <a:ext cx="4754880" cy="914400"/>
            <a:chOff x="6611112" y="3109341"/>
            <a:chExt cx="4754880" cy="914400"/>
          </a:xfrm>
        </p:grpSpPr>
        <p:sp>
          <p:nvSpPr>
            <p:cNvPr id="9" name="Rounded Rectangle 8"/>
            <p:cNvSpPr/>
            <p:nvPr/>
          </p:nvSpPr>
          <p:spPr>
            <a:xfrm>
              <a:off x="6611112" y="3109341"/>
              <a:ext cx="4754880" cy="91440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611112" y="3109341"/>
              <a:ext cx="73152" cy="91440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39712" y="3273933"/>
              <a:ext cx="44348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rPr dirty="0" err="1"/>
                <a:t>Fatores</a:t>
              </a:r>
              <a:r>
                <a:rPr dirty="0"/>
                <a:t> </a:t>
              </a:r>
              <a:r>
                <a:rPr dirty="0" err="1"/>
                <a:t>positivos</a:t>
              </a:r>
              <a:endParaRPr dirty="0"/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rPr dirty="0" err="1"/>
                <a:t>Recompra</a:t>
              </a:r>
              <a:r>
                <a:rPr dirty="0"/>
                <a:t> em 30 </a:t>
              </a:r>
              <a:r>
                <a:rPr dirty="0" err="1"/>
                <a:t>dias</a:t>
              </a:r>
              <a:r>
                <a:rPr dirty="0"/>
                <a:t> e score </a:t>
              </a:r>
              <a:r>
                <a:rPr dirty="0" err="1"/>
                <a:t>interno</a:t>
              </a:r>
              <a:r>
                <a:rPr dirty="0"/>
                <a:t> de </a:t>
              </a:r>
              <a:r>
                <a:rPr dirty="0" err="1"/>
                <a:t>satisfação</a:t>
              </a:r>
              <a:r>
                <a:rPr dirty="0"/>
                <a:t> </a:t>
              </a:r>
              <a:r>
                <a:rPr dirty="0" err="1"/>
                <a:t>apresentam</a:t>
              </a:r>
              <a:r>
                <a:rPr dirty="0"/>
                <a:t> </a:t>
              </a:r>
              <a:r>
                <a:rPr dirty="0" err="1"/>
                <a:t>associação</a:t>
              </a:r>
              <a:r>
                <a:rPr dirty="0"/>
                <a:t> </a:t>
              </a:r>
              <a:r>
                <a:rPr dirty="0" err="1"/>
                <a:t>positiva</a:t>
              </a:r>
              <a:r>
                <a:rPr dirty="0"/>
                <a:t> com a nota de NPS.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5F1B97C-FF51-A17D-F69C-5F74702925A1}"/>
              </a:ext>
            </a:extLst>
          </p:cNvPr>
          <p:cNvGrpSpPr/>
          <p:nvPr/>
        </p:nvGrpSpPr>
        <p:grpSpPr>
          <a:xfrm>
            <a:off x="6611112" y="4298061"/>
            <a:ext cx="4754880" cy="914400"/>
            <a:chOff x="6611112" y="4298061"/>
            <a:chExt cx="4754880" cy="914400"/>
          </a:xfrm>
        </p:grpSpPr>
        <p:sp>
          <p:nvSpPr>
            <p:cNvPr id="12" name="Rounded Rectangle 11"/>
            <p:cNvSpPr/>
            <p:nvPr/>
          </p:nvSpPr>
          <p:spPr>
            <a:xfrm>
              <a:off x="6611112" y="4298061"/>
              <a:ext cx="4754880" cy="914400"/>
            </a:xfrm>
            <a:prstGeom prst="roundRect">
              <a:avLst/>
            </a:prstGeom>
            <a:solidFill>
              <a:srgbClr val="F2F4F7"/>
            </a:solidFill>
            <a:ln>
              <a:solidFill>
                <a:srgbClr val="E1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11112" y="4298061"/>
              <a:ext cx="73152" cy="9144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39712" y="4462653"/>
              <a:ext cx="44348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0F2743"/>
                  </a:solidFill>
                </a:defRPr>
              </a:pPr>
              <a:r>
                <a:t>Mensagem central</a:t>
              </a:r>
            </a:p>
            <a:p>
              <a:pPr>
                <a:spcBef>
                  <a:spcPts val="600"/>
                </a:spcBef>
                <a:defRPr sz="1130">
                  <a:solidFill>
                    <a:srgbClr val="595959"/>
                  </a:solidFill>
                </a:defRPr>
              </a:pPr>
              <a:r>
                <a:t>Quanto maior o atrito operacional na jornada, maior a chance de o cliente se tornar detrator.</a:t>
              </a:r>
            </a:p>
          </p:txBody>
        </p:sp>
      </p:grpSp>
      <p:sp>
        <p:nvSpPr>
          <p:cNvPr id="18" name="Rectangle 14">
            <a:extLst>
              <a:ext uri="{FF2B5EF4-FFF2-40B4-BE49-F238E27FC236}">
                <a16:creationId xmlns:a16="http://schemas.microsoft.com/office/drawing/2014/main" id="{88CBC709-068F-BF00-772D-273E41AA001C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947869BB-18D3-019F-F125-7E6E76D9402B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765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7. Modelo preditivo proposto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A Regressão Linear Múltipla estima a nota de NPS e depois aplica a regra de classificação gerencial.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8E9D6A3-505A-E2F7-3E7F-7254358F8D9C}"/>
              </a:ext>
            </a:extLst>
          </p:cNvPr>
          <p:cNvGrpSpPr/>
          <p:nvPr/>
        </p:nvGrpSpPr>
        <p:grpSpPr>
          <a:xfrm>
            <a:off x="521207" y="1272159"/>
            <a:ext cx="2057400" cy="1450256"/>
            <a:chOff x="521207" y="1272159"/>
            <a:chExt cx="2057400" cy="1450256"/>
          </a:xfrm>
        </p:grpSpPr>
        <p:sp>
          <p:nvSpPr>
            <p:cNvPr id="5" name="Rounded Rectangle 4"/>
            <p:cNvSpPr/>
            <p:nvPr/>
          </p:nvSpPr>
          <p:spPr>
            <a:xfrm>
              <a:off x="521207" y="1272159"/>
              <a:ext cx="2057400" cy="145025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250" y="1381887"/>
              <a:ext cx="957313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400" b="1">
                  <a:solidFill>
                    <a:srgbClr val="1F4E79"/>
                  </a:solidFill>
                </a:defRPr>
              </a:pPr>
              <a:r>
                <a:rPr dirty="0"/>
                <a:t>1,19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b="1" dirty="0"/>
                <a:t>MAE</a:t>
              </a:r>
              <a:endParaRPr lang="pt-BR" b="1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endParaRPr lang="pt-BR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erro médio da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nota prevista</a:t>
              </a:r>
              <a:endParaRPr dirty="0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5821C1FD-5FA8-E769-14AF-29121A8B2368}"/>
              </a:ext>
            </a:extLst>
          </p:cNvPr>
          <p:cNvGrpSpPr/>
          <p:nvPr/>
        </p:nvGrpSpPr>
        <p:grpSpPr>
          <a:xfrm>
            <a:off x="3514851" y="1292230"/>
            <a:ext cx="2057400" cy="1450256"/>
            <a:chOff x="3128650" y="1292230"/>
            <a:chExt cx="2057400" cy="1450256"/>
          </a:xfrm>
        </p:grpSpPr>
        <p:sp>
          <p:nvSpPr>
            <p:cNvPr id="7" name="Rounded Rectangle 6"/>
            <p:cNvSpPr/>
            <p:nvPr/>
          </p:nvSpPr>
          <p:spPr>
            <a:xfrm>
              <a:off x="3128650" y="1292230"/>
              <a:ext cx="2057400" cy="145025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07597" y="1401958"/>
              <a:ext cx="1699503" cy="11079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ED7D31"/>
                  </a:solidFill>
                </a:defRPr>
              </a:pPr>
              <a:r>
                <a:rPr dirty="0"/>
                <a:t>1,49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b="1" dirty="0"/>
                <a:t>RMSE</a:t>
              </a:r>
              <a:endParaRPr lang="pt-BR" b="1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endParaRPr lang="pt-BR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erro médio com maior peso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para grandes erros</a:t>
              </a:r>
              <a:endParaRPr dirty="0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60958C35-B067-406D-6EE5-2FC9ABC68220}"/>
              </a:ext>
            </a:extLst>
          </p:cNvPr>
          <p:cNvGrpSpPr/>
          <p:nvPr/>
        </p:nvGrpSpPr>
        <p:grpSpPr>
          <a:xfrm>
            <a:off x="6508495" y="1309878"/>
            <a:ext cx="2057400" cy="1450256"/>
            <a:chOff x="5736093" y="1309878"/>
            <a:chExt cx="2057400" cy="1450256"/>
          </a:xfrm>
        </p:grpSpPr>
        <p:sp>
          <p:nvSpPr>
            <p:cNvPr id="9" name="Rounded Rectangle 8"/>
            <p:cNvSpPr/>
            <p:nvPr/>
          </p:nvSpPr>
          <p:spPr>
            <a:xfrm>
              <a:off x="5736093" y="1309878"/>
              <a:ext cx="2057400" cy="145025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58322" y="1419606"/>
              <a:ext cx="1612941" cy="11079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70AD47"/>
                  </a:solidFill>
                </a:defRPr>
              </a:pPr>
              <a:r>
                <a:rPr dirty="0"/>
                <a:t>0,65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b="1" dirty="0"/>
                <a:t>R²</a:t>
              </a:r>
              <a:endParaRPr lang="pt-BR" b="1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endParaRPr lang="pt-BR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capacidade do modelo de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explicar a variação do NPS</a:t>
              </a:r>
              <a:endParaRPr dirty="0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C16E16B-3251-3AC9-FED4-341E9D8809A2}"/>
              </a:ext>
            </a:extLst>
          </p:cNvPr>
          <p:cNvGrpSpPr/>
          <p:nvPr/>
        </p:nvGrpSpPr>
        <p:grpSpPr>
          <a:xfrm>
            <a:off x="9502140" y="1272159"/>
            <a:ext cx="2057400" cy="1450256"/>
            <a:chOff x="9502140" y="1272159"/>
            <a:chExt cx="2057400" cy="1450256"/>
          </a:xfrm>
        </p:grpSpPr>
        <p:sp>
          <p:nvSpPr>
            <p:cNvPr id="11" name="Rounded Rectangle 10"/>
            <p:cNvSpPr/>
            <p:nvPr/>
          </p:nvSpPr>
          <p:spPr>
            <a:xfrm>
              <a:off x="9502140" y="1272159"/>
              <a:ext cx="2057400" cy="145025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CE1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32571" y="1381887"/>
              <a:ext cx="1396536" cy="11079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1F4E79"/>
                  </a:solidFill>
                </a:defRPr>
              </a:pPr>
              <a:r>
                <a:rPr dirty="0"/>
                <a:t>79%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b="1" dirty="0" err="1"/>
                <a:t>acurácia</a:t>
              </a:r>
              <a:r>
                <a:rPr b="1" dirty="0"/>
                <a:t> </a:t>
              </a:r>
              <a:r>
                <a:rPr b="1" dirty="0" err="1"/>
                <a:t>derivada</a:t>
              </a:r>
              <a:endParaRPr lang="pt-BR" b="1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endParaRPr lang="pt-BR" dirty="0"/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percentual de</a:t>
              </a:r>
            </a:p>
            <a:p>
              <a:pPr algn="ctr">
                <a:defRPr sz="1050">
                  <a:solidFill>
                    <a:srgbClr val="595959"/>
                  </a:solidFill>
                </a:defRPr>
              </a:pPr>
              <a:r>
                <a:rPr lang="pt-BR" dirty="0"/>
                <a:t>classificações corretas</a:t>
              </a:r>
              <a:endParaRPr dirty="0"/>
            </a:p>
          </p:txBody>
        </p:sp>
      </p:grpSp>
      <p:pic>
        <p:nvPicPr>
          <p:cNvPr id="13" name="Picture 12" descr="modelo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1" y="3171614"/>
            <a:ext cx="5349240" cy="2926080"/>
          </a:xfrm>
          <a:prstGeom prst="rect">
            <a:avLst/>
          </a:prstGeom>
        </p:spPr>
      </p:pic>
      <p:pic>
        <p:nvPicPr>
          <p:cNvPr id="14" name="Picture 13" descr="coeficientes_mod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171614"/>
            <a:ext cx="5349240" cy="2926080"/>
          </a:xfrm>
          <a:prstGeom prst="rect">
            <a:avLst/>
          </a:prstGeom>
        </p:spPr>
      </p:pic>
      <p:sp>
        <p:nvSpPr>
          <p:cNvPr id="19" name="Rectangle 14">
            <a:extLst>
              <a:ext uri="{FF2B5EF4-FFF2-40B4-BE49-F238E27FC236}">
                <a16:creationId xmlns:a16="http://schemas.microsoft.com/office/drawing/2014/main" id="{DE31CDCE-3B6C-DCAC-B4F2-60DCBBA357FD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10250885-8818-D752-6FE9-83FBFE6D7451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785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743"/>
                </a:solidFill>
              </a:defRPr>
            </a:pPr>
            <a:r>
              <a:t>8. Recomendações, limitações e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95959"/>
                </a:solidFill>
              </a:defRPr>
            </a:pPr>
            <a:r>
              <a:t>Os resultados apoiam ação preventiva, mas devem ser usados com governança analítica.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611880" cy="3337560"/>
          </a:xfrm>
          <a:prstGeom prst="roundRect">
            <a:avLst/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3337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3"/>
                </a:solidFill>
              </a:defRPr>
            </a:pPr>
            <a:r>
              <a:t>Recomendações práticas</a:t>
            </a:r>
          </a:p>
          <a:p>
            <a:pPr>
              <a:spcBef>
                <a:spcPts val="600"/>
              </a:spcBef>
              <a:defRPr sz="1130">
                <a:solidFill>
                  <a:srgbClr val="595959"/>
                </a:solidFill>
              </a:defRPr>
            </a:pPr>
            <a:r>
              <a:t>• Monitorar atrasos, reclamações e múltiplos contatos.</a:t>
            </a:r>
            <a:br/>
            <a:r>
              <a:t>• Criar alertas para jornadas críticas.</a:t>
            </a:r>
            <a:br/>
            <a:r>
              <a:t>• Priorizar melhorias em logística e atendimento.</a:t>
            </a:r>
            <a:br/>
            <a:r>
              <a:t>• Usar o modelo como apoio à decisão.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611880" cy="3337560"/>
          </a:xfrm>
          <a:prstGeom prst="roundRect">
            <a:avLst/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234440"/>
            <a:ext cx="73152" cy="3337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399032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3"/>
                </a:solidFill>
              </a:defRPr>
            </a:pPr>
            <a:r>
              <a:t>Limitações e riscos</a:t>
            </a:r>
          </a:p>
          <a:p>
            <a:pPr>
              <a:spcBef>
                <a:spcPts val="600"/>
              </a:spcBef>
              <a:defRPr sz="1130">
                <a:solidFill>
                  <a:srgbClr val="595959"/>
                </a:solidFill>
              </a:defRPr>
            </a:pPr>
            <a:r>
              <a:t>• Associação não implica causalidade.</a:t>
            </a:r>
            <a:br/>
            <a:r>
              <a:t>• O NPS é coletado após a jornada.</a:t>
            </a:r>
            <a:br/>
            <a:r>
              <a:t>• O modelo é uma primeira abordagem simplificada.</a:t>
            </a:r>
            <a:br/>
            <a:r>
              <a:t>• Variáveis externas não foram consideradas.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234440"/>
            <a:ext cx="3154680" cy="3337560"/>
          </a:xfrm>
          <a:prstGeom prst="roundRect">
            <a:avLst/>
          </a:prstGeom>
          <a:solidFill>
            <a:srgbClr val="F2F4F7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66760" y="1234440"/>
            <a:ext cx="73152" cy="3337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1399032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3"/>
                </a:solidFill>
              </a:defRPr>
            </a:pPr>
            <a:r>
              <a:t>Conclusão executiva</a:t>
            </a:r>
          </a:p>
          <a:p>
            <a:pPr>
              <a:spcBef>
                <a:spcPts val="600"/>
              </a:spcBef>
              <a:defRPr sz="1130">
                <a:solidFill>
                  <a:srgbClr val="595959"/>
                </a:solidFill>
              </a:defRPr>
            </a:pPr>
            <a:r>
              <a:t>Dados operacionais podem transformar o NPS de uma métrica reativa em uma ferramenta preventiva de gestão da experiência do cliente.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800"/>
              </a:spcAft>
              <a:defRPr sz="1600">
                <a:solidFill>
                  <a:srgbClr val="0F2743"/>
                </a:solidFill>
              </a:defRPr>
            </a:pPr>
            <a:r>
              <a:rPr b="1" dirty="0" err="1"/>
              <a:t>Próximo</a:t>
            </a:r>
            <a:r>
              <a:rPr b="1" dirty="0"/>
              <a:t> </a:t>
            </a:r>
            <a:r>
              <a:rPr b="1" dirty="0" err="1"/>
              <a:t>passo</a:t>
            </a:r>
            <a:r>
              <a:rPr b="1" dirty="0"/>
              <a:t> </a:t>
            </a:r>
            <a:r>
              <a:rPr b="1" dirty="0" err="1"/>
              <a:t>recomendado</a:t>
            </a:r>
            <a:r>
              <a:rPr b="1" dirty="0"/>
              <a:t>: </a:t>
            </a:r>
            <a:r>
              <a:rPr dirty="0" err="1"/>
              <a:t>validar</a:t>
            </a:r>
            <a:r>
              <a:rPr dirty="0"/>
              <a:t> o </a:t>
            </a:r>
            <a:r>
              <a:rPr dirty="0" err="1"/>
              <a:t>modelo</a:t>
            </a:r>
            <a:r>
              <a:rPr dirty="0"/>
              <a:t> em dados </a:t>
            </a:r>
            <a:r>
              <a:rPr dirty="0" err="1"/>
              <a:t>novos</a:t>
            </a:r>
            <a:r>
              <a:rPr dirty="0"/>
              <a:t> e </a:t>
            </a:r>
            <a:r>
              <a:rPr dirty="0" err="1"/>
              <a:t>conectar</a:t>
            </a:r>
            <a:r>
              <a:rPr dirty="0"/>
              <a:t>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fluxos</a:t>
            </a:r>
            <a:r>
              <a:rPr dirty="0"/>
              <a:t> reais das </a:t>
            </a:r>
            <a:r>
              <a:rPr dirty="0" err="1"/>
              <a:t>áreas</a:t>
            </a:r>
            <a:r>
              <a:rPr dirty="0"/>
              <a:t> de </a:t>
            </a:r>
            <a:r>
              <a:rPr dirty="0" err="1"/>
              <a:t>logística</a:t>
            </a:r>
            <a:r>
              <a:rPr dirty="0"/>
              <a:t> e </a:t>
            </a:r>
            <a:r>
              <a:rPr dirty="0" err="1"/>
              <a:t>atendimento</a:t>
            </a:r>
            <a:r>
              <a:rPr dirty="0"/>
              <a:t>.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393D1A5B-D734-7E3A-318B-3680885A2077}"/>
              </a:ext>
            </a:extLst>
          </p:cNvPr>
          <p:cNvSpPr/>
          <p:nvPr/>
        </p:nvSpPr>
        <p:spPr>
          <a:xfrm>
            <a:off x="7772" y="6584612"/>
            <a:ext cx="12191695" cy="27432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0C16C821-086A-95B7-816D-4FAA0AC520DD}"/>
              </a:ext>
            </a:extLst>
          </p:cNvPr>
          <p:cNvSpPr txBox="1"/>
          <p:nvPr/>
        </p:nvSpPr>
        <p:spPr>
          <a:xfrm>
            <a:off x="7772" y="6609588"/>
            <a:ext cx="12191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2DCE8"/>
                </a:solidFill>
              </a:defRPr>
            </a:pPr>
            <a:r>
              <a:rPr lang="pt-BR" sz="1000" dirty="0">
                <a:solidFill>
                  <a:srgbClr val="0F2743"/>
                </a:solidFill>
              </a:rPr>
              <a:t>Pós Tech em AI Scientist </a:t>
            </a:r>
            <a:r>
              <a:rPr sz="1000" dirty="0">
                <a:solidFill>
                  <a:srgbClr val="0F2743"/>
                </a:solidFill>
              </a:rPr>
              <a:t>• </a:t>
            </a:r>
            <a:r>
              <a:rPr lang="pt-BR" sz="1000" dirty="0">
                <a:solidFill>
                  <a:srgbClr val="0F2743"/>
                </a:solidFill>
              </a:rPr>
              <a:t>Tech </a:t>
            </a:r>
            <a:r>
              <a:rPr lang="pt-BR" sz="1000" dirty="0" err="1">
                <a:solidFill>
                  <a:srgbClr val="0F2743"/>
                </a:solidFill>
              </a:rPr>
              <a:t>Challenge</a:t>
            </a:r>
            <a:r>
              <a:rPr lang="pt-BR" sz="1000" dirty="0">
                <a:solidFill>
                  <a:srgbClr val="0F2743"/>
                </a:solidFill>
              </a:rPr>
              <a:t> Fase 1 • </a:t>
            </a:r>
            <a:r>
              <a:rPr sz="1000" dirty="0">
                <a:solidFill>
                  <a:srgbClr val="0F2743"/>
                </a:solidFill>
              </a:rPr>
              <a:t>Vinicius </a:t>
            </a:r>
            <a:r>
              <a:rPr lang="pt-BR" sz="1000" dirty="0">
                <a:solidFill>
                  <a:srgbClr val="0F2743"/>
                </a:solidFill>
              </a:rPr>
              <a:t>Naziozeno Santoro do </a:t>
            </a:r>
            <a:r>
              <a:rPr sz="1000" dirty="0">
                <a:solidFill>
                  <a:srgbClr val="0F2743"/>
                </a:solidFill>
              </a:rPr>
              <a:t>Rio</a:t>
            </a:r>
            <a:r>
              <a:rPr lang="pt-BR" sz="1000" dirty="0">
                <a:solidFill>
                  <a:srgbClr val="0F2743"/>
                </a:solidFill>
              </a:rPr>
              <a:t> • Abril de 2026</a:t>
            </a:r>
            <a:endParaRPr sz="1000" dirty="0">
              <a:solidFill>
                <a:srgbClr val="0F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982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754880"/>
            <a:ext cx="1828800" cy="18288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39899" y="2184500"/>
            <a:ext cx="57740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pt-BR" sz="6000" dirty="0"/>
              <a:t>Obrigado!</a:t>
            </a:r>
            <a:endParaRPr sz="6000" dirty="0"/>
          </a:p>
        </p:txBody>
      </p:sp>
      <p:sp>
        <p:nvSpPr>
          <p:cNvPr id="8" name="TextBox 7"/>
          <p:cNvSpPr txBox="1"/>
          <p:nvPr/>
        </p:nvSpPr>
        <p:spPr>
          <a:xfrm>
            <a:off x="1339899" y="6154103"/>
            <a:ext cx="63189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DCE8"/>
                </a:solidFill>
              </a:defRPr>
            </a:pPr>
            <a:r>
              <a:rPr lang="pt-BR" dirty="0"/>
              <a:t>Pós Tech em AI Scientist </a:t>
            </a:r>
            <a:r>
              <a:rPr dirty="0"/>
              <a:t>• </a:t>
            </a:r>
            <a:r>
              <a:rPr lang="pt-BR" dirty="0"/>
              <a:t>Tech </a:t>
            </a:r>
            <a:r>
              <a:rPr lang="pt-BR" dirty="0" err="1"/>
              <a:t>Challenge</a:t>
            </a:r>
            <a:r>
              <a:rPr lang="pt-BR" dirty="0"/>
              <a:t> Fase 1 • </a:t>
            </a:r>
            <a:r>
              <a:rPr dirty="0"/>
              <a:t>Vinicius </a:t>
            </a:r>
            <a:r>
              <a:rPr lang="pt-BR" dirty="0"/>
              <a:t>Naziozeno Santoro do </a:t>
            </a:r>
            <a:r>
              <a:rPr dirty="0"/>
              <a:t>Rio</a:t>
            </a:r>
          </a:p>
        </p:txBody>
      </p:sp>
    </p:spTree>
    <p:extLst>
      <p:ext uri="{BB962C8B-B14F-4D97-AF65-F5344CB8AC3E}">
        <p14:creationId xmlns:p14="http://schemas.microsoft.com/office/powerpoint/2010/main" val="2485137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987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 Naziozeno Santoro do Rio</dc:creator>
  <cp:keywords/>
  <dc:description>generated using python-pptx</dc:description>
  <cp:lastModifiedBy>Vinicius Naziozeno Santoro do Rio</cp:lastModifiedBy>
  <cp:revision>2</cp:revision>
  <dcterms:created xsi:type="dcterms:W3CDTF">2013-01-27T09:14:16Z</dcterms:created>
  <dcterms:modified xsi:type="dcterms:W3CDTF">2026-05-05T02:59:05Z</dcterms:modified>
  <cp:category/>
</cp:coreProperties>
</file>